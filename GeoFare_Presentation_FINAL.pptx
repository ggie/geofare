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310" r:id="rId14"/>
    <p:sldId id="296" r:id="rId15"/>
  </p:sldIdLst>
  <p:sldSz cx="12192000" cy="6858000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9" autoAdjust="0"/>
    <p:restoredTop sz="96400" autoAdjust="0"/>
  </p:normalViewPr>
  <p:slideViewPr>
    <p:cSldViewPr snapToGrid="0">
      <p:cViewPr varScale="1">
        <p:scale>
          <a:sx n="63" d="100"/>
          <a:sy n="63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92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8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22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26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30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34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38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42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5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97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93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1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1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8612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4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3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5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7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70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71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2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6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77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8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79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0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1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4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68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65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0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9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1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8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oogle Shape;84;p1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5" name="Google Shape;85;p1"/>
          <p:cNvSpPr txBox="1"/>
          <p:nvPr/>
        </p:nvSpPr>
        <p:spPr>
          <a:xfrm>
            <a:off x="1425728" y="1632338"/>
            <a:ext cx="9765524" cy="25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i="0" u="none" strike="noStrike" cap="none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GeoFare</a:t>
            </a:r>
            <a:endParaRPr lang="en-GB" sz="2800" dirty="0">
              <a:solidFill>
                <a:schemeClr val="lt1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700" b="0" i="1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GIS-Based Habal-Habal Fare Computation and Management System Using Road-Network Distance in Manolo Fortich, Bukidnon</a:t>
            </a:r>
          </a:p>
        </p:txBody>
      </p:sp>
      <p:sp>
        <p:nvSpPr>
          <p:cNvPr id="1048616" name="Google Shape;85;p1"/>
          <p:cNvSpPr txBox="1"/>
          <p:nvPr/>
        </p:nvSpPr>
        <p:spPr>
          <a:xfrm>
            <a:off x="2125728" y="3439770"/>
            <a:ext cx="8365524" cy="24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Auggie John Fred G. Manginsay</a:t>
            </a:r>
          </a:p>
          <a:p>
            <a:pPr algn="ctr"/>
            <a:r>
              <a:rPr lang="en-GB" sz="1800" dirty="0">
                <a:solidFill>
                  <a:schemeClr val="bg1"/>
                </a:solidFill>
              </a:rPr>
              <a:t>Rian S. Cat-awan</a:t>
            </a:r>
          </a:p>
          <a:p>
            <a:pPr algn="ctr"/>
            <a:r>
              <a:rPr lang="en-GB" sz="1800" dirty="0">
                <a:solidFill>
                  <a:schemeClr val="bg1"/>
                </a:solidFill>
              </a:rPr>
              <a:t>Weniel A. </a:t>
            </a:r>
            <a:r>
              <a:rPr lang="en-GB" sz="1800" dirty="0" err="1" smtClean="0">
                <a:solidFill>
                  <a:schemeClr val="bg1"/>
                </a:solidFill>
              </a:rPr>
              <a:t>Raña</a:t>
            </a:r>
            <a:endParaRPr lang="en-GB" sz="1800" dirty="0" smtClean="0">
              <a:solidFill>
                <a:schemeClr val="bg1"/>
              </a:solidFill>
            </a:endParaRPr>
          </a:p>
          <a:p>
            <a:pPr algn="ctr"/>
            <a:endParaRPr lang="en-GB" sz="1800" dirty="0">
              <a:solidFill>
                <a:schemeClr val="bg1"/>
              </a:solidFill>
            </a:endParaRPr>
          </a:p>
          <a:p>
            <a:pPr algn="ctr"/>
            <a:r>
              <a:rPr lang="en-GB" sz="1600" dirty="0">
                <a:solidFill>
                  <a:schemeClr val="bg1"/>
                </a:solidFill>
              </a:rPr>
              <a:t>Bachelor of Science in Information </a:t>
            </a:r>
            <a:r>
              <a:rPr lang="en-GB" sz="1600" dirty="0" smtClean="0">
                <a:solidFill>
                  <a:schemeClr val="bg1"/>
                </a:solidFill>
              </a:rPr>
              <a:t>Technology</a:t>
            </a:r>
          </a:p>
          <a:p>
            <a:pPr algn="ctr"/>
            <a:endParaRPr lang="en-GB" sz="1600" dirty="0">
              <a:solidFill>
                <a:schemeClr val="bg1"/>
              </a:solidFill>
            </a:endParaRPr>
          </a:p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Adviser: </a:t>
            </a:r>
            <a:r>
              <a:rPr lang="en-GB" sz="1600" dirty="0" err="1" smtClean="0">
                <a:solidFill>
                  <a:schemeClr val="bg1"/>
                </a:solidFill>
              </a:rPr>
              <a:t>Cristine</a:t>
            </a:r>
            <a:r>
              <a:rPr lang="en-GB" sz="1600" dirty="0" smtClean="0">
                <a:solidFill>
                  <a:schemeClr val="bg1"/>
                </a:solidFill>
              </a:rPr>
              <a:t> Joy G. </a:t>
            </a:r>
            <a:r>
              <a:rPr lang="en-GB" sz="1600" dirty="0" err="1" smtClean="0">
                <a:solidFill>
                  <a:schemeClr val="bg1"/>
                </a:solidFill>
              </a:rPr>
              <a:t>Sagaosao</a:t>
            </a:r>
            <a:endParaRPr lang="en-US" altLang="en-GB" sz="1600" dirty="0" smtClean="0">
              <a:solidFill>
                <a:schemeClr val="bg1"/>
              </a:solidFill>
            </a:endParaRPr>
          </a:p>
          <a:p>
            <a:pPr algn="ctr"/>
            <a:endParaRPr lang="en-GB" sz="1600" dirty="0" smtClean="0">
              <a:solidFill>
                <a:schemeClr val="bg1"/>
              </a:solidFill>
            </a:endParaRPr>
          </a:p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July </a:t>
            </a:r>
            <a:r>
              <a:rPr lang="en-GB" sz="1600" dirty="0" smtClean="0">
                <a:solidFill>
                  <a:schemeClr val="bg1"/>
                </a:solidFill>
              </a:rPr>
              <a:t>2026</a:t>
            </a:r>
            <a:endParaRPr lang="en-GB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9" name="Google Shape;93;p2"/>
          <p:cNvSpPr txBox="1"/>
          <p:nvPr/>
        </p:nvSpPr>
        <p:spPr>
          <a:xfrm>
            <a:off x="492211" y="1291852"/>
            <a:ext cx="83655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INTRODUCTION</a:t>
            </a:r>
            <a:endParaRPr dirty="0"/>
          </a:p>
        </p:txBody>
      </p:sp>
      <p:pic>
        <p:nvPicPr>
          <p:cNvPr id="2097162" name="Picture 2097161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57" y="2207173"/>
            <a:ext cx="2567942" cy="4384564"/>
          </a:xfrm>
          <a:prstGeom prst="rect">
            <a:avLst/>
          </a:prstGeom>
        </p:spPr>
      </p:pic>
      <p:pic>
        <p:nvPicPr>
          <p:cNvPr id="1026" name="Picture 2" descr="Kakaiba nga transportation sa Manolo Fortich, Bukidnon! 🤔 , #Bukidnon |  Lumad Cebuano | Facebook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1" b="13604"/>
          <a:stretch/>
        </p:blipFill>
        <p:spPr bwMode="auto">
          <a:xfrm>
            <a:off x="2274382" y="4578898"/>
            <a:ext cx="2787062" cy="183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akaiba nga transportation sa Manolo Fortich, Bukidnon! 🤔 #Bukidnon |  Lumad Cebuan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5" r="32196" b="36835"/>
          <a:stretch/>
        </p:blipFill>
        <p:spPr bwMode="auto">
          <a:xfrm>
            <a:off x="5682358" y="4578898"/>
            <a:ext cx="2885167" cy="179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1008" y="1476518"/>
            <a:ext cx="93544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Habal-habal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a primary mode of transportation in remote barangays of Manolo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Fortich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Bukidnon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Sumilhig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et al., 2021).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Existing local transportation systems lack GPS integration, mapping capabilities, and automated fare computation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Nailes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Lagmay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2020;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Tica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-a et al., 2025).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absence of a standardized digital fare computation system may lead to inconsistent fare determination and fare disputes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Sumilhig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et al., 2021;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Nesnia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2026).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3" name="Google Shape;93;p2"/>
          <p:cNvSpPr txBox="1"/>
          <p:nvPr/>
        </p:nvSpPr>
        <p:spPr>
          <a:xfrm>
            <a:off x="492211" y="1291852"/>
            <a:ext cx="83655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STATEMENT OF THE PROBLEM</a:t>
            </a:r>
            <a:endParaRPr dirty="0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577555" y="2308833"/>
            <a:ext cx="11187725" cy="3805455"/>
          </a:xfrm>
          <a:noFill/>
        </p:spPr>
        <p:txBody>
          <a:bodyPr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Identified Problems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en-US" sz="2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en-US" sz="21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1. How 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can a GIS-based fare computation system be developed for </a:t>
            </a:r>
            <a:r>
              <a:rPr lang="en-US" sz="2100" dirty="0" err="1">
                <a:solidFill>
                  <a:schemeClr val="bg1"/>
                </a:solidFill>
                <a:latin typeface="Arial" panose="020B0604020202020204" pitchFamily="34" charset="0"/>
              </a:rPr>
              <a:t>habal-habal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 services</a:t>
            </a: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</a:p>
          <a:p>
            <a:pPr lvl="0" indent="-457200" algn="ctr">
              <a:spcBef>
                <a:spcPts val="0"/>
              </a:spcBef>
              <a:buAutoNum type="arabicPeriod"/>
            </a:pPr>
            <a:endParaRPr 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2. How can fare computation be automated using road-network distance and the </a:t>
            </a: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LGU-approved 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fare matrix</a:t>
            </a: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3. 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How can the system provide a centralized fare management module for administrators</a:t>
            </a: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100" dirty="0" smtClean="0">
                <a:solidFill>
                  <a:schemeClr val="bg1"/>
                </a:solidFill>
                <a:latin typeface="Arial" panose="020B0604020202020204" pitchFamily="34" charset="0"/>
              </a:rPr>
              <a:t>4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. How usable is the </a:t>
            </a:r>
            <a:r>
              <a:rPr lang="en-US" sz="2100" dirty="0" err="1">
                <a:solidFill>
                  <a:schemeClr val="bg1"/>
                </a:solidFill>
                <a:latin typeface="Arial" panose="020B0604020202020204" pitchFamily="34" charset="0"/>
              </a:rPr>
              <a:t>GeoFare</a:t>
            </a:r>
            <a:r>
              <a:rPr lang="en-US" sz="2100" dirty="0">
                <a:solidFill>
                  <a:schemeClr val="bg1"/>
                </a:solidFill>
                <a:latin typeface="Arial" panose="020B0604020202020204" pitchFamily="34" charset="0"/>
              </a:rPr>
              <a:t> system based on the System Usability Scale (SUS)?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1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7" name="Google Shape;93;p2"/>
          <p:cNvSpPr txBox="1"/>
          <p:nvPr/>
        </p:nvSpPr>
        <p:spPr>
          <a:xfrm>
            <a:off x="492211" y="1291852"/>
            <a:ext cx="83655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OBJECTIVES OF THE STUDY</a:t>
            </a:r>
            <a:endParaRPr dirty="0"/>
          </a:p>
        </p:txBody>
      </p:sp>
      <p:sp>
        <p:nvSpPr>
          <p:cNvPr id="1048628" name="Text Placeholder 2"/>
          <p:cNvSpPr>
            <a:spLocks noGrp="1"/>
          </p:cNvSpPr>
          <p:nvPr>
            <p:ph type="body" idx="1"/>
          </p:nvPr>
        </p:nvSpPr>
        <p:spPr>
          <a:xfrm>
            <a:off x="577555" y="2308833"/>
            <a:ext cx="11187725" cy="3805455"/>
          </a:xfrm>
          <a:noFill/>
        </p:spPr>
        <p:txBody>
          <a:bodyPr>
            <a:normAutofit/>
          </a:bodyPr>
          <a:lstStyle/>
          <a:p>
            <a:pPr marL="285750" lvl="0" indent="-285750">
              <a:spcBef>
                <a:spcPts val="600"/>
              </a:spcBef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Design and develop a GIS-based </a:t>
            </a:r>
            <a:r>
              <a:rPr lang="en-U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habal-habal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fare computation and management system using </a:t>
            </a:r>
            <a:r>
              <a:rPr lang="en-U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OpenStreetMap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road-network data and the LGU-approved fare matrix to automate fare computation and route visualization</a:t>
            </a:r>
            <a:r>
              <a:rPr lang="en-US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>
              <a:spcBef>
                <a:spcPts val="600"/>
              </a:spcBef>
              <a:buNone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>
              <a:spcBef>
                <a:spcPts val="600"/>
              </a:spcBef>
            </a:pPr>
            <a:r>
              <a:rPr lang="en-US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Implement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a centralized fare management module that securely manages fare information and supports accurate, transparent, and efficient fare computation</a:t>
            </a:r>
            <a:r>
              <a:rPr lang="en-US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>
              <a:spcBef>
                <a:spcPts val="600"/>
              </a:spcBef>
              <a:buNone/>
            </a:pPr>
            <a:endParaRPr lang="en-US" sz="18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>
              <a:spcBef>
                <a:spcPts val="600"/>
              </a:spcBef>
            </a:pPr>
            <a:r>
              <a:rPr lang="en-US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Evaluate the developed </a:t>
            </a:r>
            <a:r>
              <a:rPr lang="en-US" sz="18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GeoFare</a:t>
            </a:r>
            <a:r>
              <a:rPr lang="en-US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 system in terms of functionality, accuracy, performance, and usability using the System Usability Scale (SUS).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1" name="Google Shape;93;p2"/>
          <p:cNvSpPr txBox="1"/>
          <p:nvPr/>
        </p:nvSpPr>
        <p:spPr>
          <a:xfrm>
            <a:off x="492211" y="1291852"/>
            <a:ext cx="83655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SCOPE AND LIMITATION</a:t>
            </a:r>
            <a:endParaRPr dirty="0"/>
          </a:p>
        </p:txBody>
      </p:sp>
      <p:sp>
        <p:nvSpPr>
          <p:cNvPr id="1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211" y="2176373"/>
            <a:ext cx="103925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Scope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Covers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Tankulan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San Miguel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Dicklum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Manolo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Fortich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000" b="1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pickup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drop-off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point selection with route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OpenStreetMap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the LGU-approved fare matrix for automated fare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Limitation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real-time GPS tracking or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Habal-habal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Ally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rider queueing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Depends on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OpenStreetMap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and internet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5" name="Google Shape;93;p2"/>
          <p:cNvSpPr txBox="1"/>
          <p:nvPr/>
        </p:nvSpPr>
        <p:spPr>
          <a:xfrm>
            <a:off x="492211" y="1291852"/>
            <a:ext cx="83655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SIGNIFICANCE OF THE STUDY</a:t>
            </a:r>
            <a:endParaRPr dirty="0"/>
          </a:p>
        </p:txBody>
      </p:sp>
      <p:sp>
        <p:nvSpPr>
          <p:cNvPr id="8" name="Text Placeholder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5175" y="1563047"/>
            <a:ext cx="1100165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lnSpc>
                <a:spcPct val="150000"/>
              </a:lnSpc>
              <a:buNone/>
            </a:pPr>
            <a:endParaRPr lang="en-PH" sz="2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PH" sz="2400" b="1" dirty="0">
                <a:solidFill>
                  <a:schemeClr val="bg1"/>
                </a:solidFill>
                <a:latin typeface="+mj-lt"/>
              </a:rPr>
              <a:t>Commuters:</a:t>
            </a:r>
            <a:r>
              <a:rPr lang="en-PH" sz="2400" dirty="0">
                <a:solidFill>
                  <a:schemeClr val="bg1"/>
                </a:solidFill>
                <a:latin typeface="+mj-lt"/>
              </a:rPr>
              <a:t> Accurate and transparent fare computation.</a:t>
            </a:r>
          </a:p>
          <a:p>
            <a:pPr>
              <a:lnSpc>
                <a:spcPct val="150000"/>
              </a:lnSpc>
            </a:pPr>
            <a:r>
              <a:rPr lang="en-PH" sz="2400" b="1" dirty="0" err="1">
                <a:solidFill>
                  <a:schemeClr val="bg1"/>
                </a:solidFill>
                <a:latin typeface="+mj-lt"/>
              </a:rPr>
              <a:t>Habal-Habal</a:t>
            </a:r>
            <a:r>
              <a:rPr lang="en-PH" sz="2400" b="1" dirty="0">
                <a:solidFill>
                  <a:schemeClr val="bg1"/>
                </a:solidFill>
                <a:latin typeface="+mj-lt"/>
              </a:rPr>
              <a:t> Riders:</a:t>
            </a:r>
            <a:r>
              <a:rPr lang="en-PH" sz="2400" dirty="0">
                <a:solidFill>
                  <a:schemeClr val="bg1"/>
                </a:solidFill>
                <a:latin typeface="+mj-lt"/>
              </a:rPr>
              <a:t> Standardized fare computation.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+mj-lt"/>
              </a:rPr>
              <a:t>Local Government Unit (LGU) / MFRTA: Supports fare administration, monitoring, and implementation of the approved fare matrix through a digital management platform</a:t>
            </a: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PH" sz="2400" b="1" dirty="0" smtClean="0">
                <a:solidFill>
                  <a:schemeClr val="bg1"/>
                </a:solidFill>
                <a:latin typeface="+mj-lt"/>
              </a:rPr>
              <a:t>Future Researchers:</a:t>
            </a:r>
            <a:r>
              <a:rPr lang="en-PH" sz="2400" dirty="0" smtClean="0">
                <a:solidFill>
                  <a:schemeClr val="bg1"/>
                </a:solidFill>
                <a:latin typeface="+mj-lt"/>
              </a:rPr>
              <a:t> Reference for GIS-based transportation systems.</a:t>
            </a:r>
            <a:endParaRPr lang="en-PH" sz="2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9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REVIEW OF RELATED LITERATURE AND STUDIES</a:t>
            </a:r>
            <a:endParaRPr dirty="0"/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>
          <a:xfrm>
            <a:off x="384027" y="2511928"/>
            <a:ext cx="11807973" cy="2390272"/>
          </a:xfrm>
          <a:noFill/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Studies</a:t>
            </a:r>
          </a:p>
          <a:p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systems such as </a:t>
            </a:r>
            <a:r>
              <a:rPr lang="en-PH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Transmobil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Ally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TRIGO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PAYSADA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studies by </a:t>
            </a:r>
            <a:r>
              <a:rPr lang="en-PH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Sumilhig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demonstrate the </a:t>
            </a:r>
            <a:r>
              <a:rPr lang="en-PH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continued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reliance on manual fare estimation and limited GIS integration in informal transportation. </a:t>
            </a:r>
          </a:p>
          <a:p>
            <a:pPr marL="114300" indent="0">
              <a:buNone/>
            </a:pP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Studies</a:t>
            </a:r>
          </a:p>
          <a:p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by </a:t>
            </a:r>
            <a:r>
              <a:rPr lang="en-PH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Dardas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(2022)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PH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Felício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(2022)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PH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Gungor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(2025)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PH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Wang et al. (2024)</a:t>
            </a:r>
            <a:r>
              <a:rPr lang="en-PH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confirms that GIS-based road-network analysis improves routing accuracy, transportation efficiency, and fare transparency.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6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TYPE OF RESEARCH DESIGN</a:t>
            </a:r>
            <a:endParaRPr lang="en-GB" dirty="0"/>
          </a:p>
        </p:txBody>
      </p:sp>
      <p:sp>
        <p:nvSpPr>
          <p:cNvPr id="1048607" name="Text Placeholder 2"/>
          <p:cNvSpPr>
            <a:spLocks noGrp="1"/>
          </p:cNvSpPr>
          <p:nvPr>
            <p:ph type="body" idx="1"/>
          </p:nvPr>
        </p:nvSpPr>
        <p:spPr>
          <a:xfrm>
            <a:off x="577555" y="2308833"/>
            <a:ext cx="11187725" cy="3805455"/>
          </a:xfrm>
          <a:noFill/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Developmental Research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Focuses on the systematic design, development, and evaluation of the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GeoFare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system. </a:t>
            </a:r>
          </a:p>
          <a:p>
            <a:pPr marL="114300" indent="0">
              <a:buNone/>
            </a:pPr>
            <a:endPara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Utilizes statistical analysis of respondents' usability evaluations through the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Usability Scale (SUS)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14300" indent="0">
              <a:buNone/>
            </a:pP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Together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these research designs combine practical software development with measurable usability evaluation.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2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RESEARCH DESIGN APPROACH</a:t>
            </a:r>
            <a:endParaRPr lang="en-GB" dirty="0"/>
          </a:p>
        </p:txBody>
      </p:sp>
      <p:sp>
        <p:nvSpPr>
          <p:cNvPr id="4" name="Text Place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250" y="2351357"/>
            <a:ext cx="1051115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Agile Software Development Methodology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an iterative and incremental development approach.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Guides the development of the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GeoFare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Covers the first three phases: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Requirements Analysis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Planning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7544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EXPECTED OUTPUT</a:t>
            </a:r>
            <a:endParaRPr lang="en-GB" dirty="0"/>
          </a:p>
        </p:txBody>
      </p:sp>
      <p:sp>
        <p:nvSpPr>
          <p:cNvPr id="1048595" name="Text Placeholder 2"/>
          <p:cNvSpPr>
            <a:spLocks noGrp="1"/>
          </p:cNvSpPr>
          <p:nvPr>
            <p:ph type="body" idx="1"/>
          </p:nvPr>
        </p:nvSpPr>
        <p:spPr>
          <a:xfrm>
            <a:off x="549627" y="2321560"/>
            <a:ext cx="11092745" cy="3340100"/>
          </a:xfrm>
          <a:noFill/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PH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</a:t>
            </a: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include:</a:t>
            </a:r>
            <a:endParaRPr lang="en-PH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Leaflet.js map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Pickup and drop-off location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fare computation using road-network distance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</a:t>
            </a: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transparent fare verification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REFERENCES</a:t>
            </a:r>
            <a:endParaRPr lang="en-GB" dirty="0"/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1110" y="2532727"/>
            <a:ext cx="96144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Brooke, J. (1996).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Usability Scale (SUS).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Richey, R. C. (1994).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Developmental Research.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Felício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P., et al. (2022).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Dardas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A., et al. (2022).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Wang, Y., et al. (2024).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Sumilhig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J., et al. (2021).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Complete references are available in the manuscript.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95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0" name="Google Shape;93;p2"/>
          <p:cNvSpPr txBox="1"/>
          <p:nvPr/>
        </p:nvSpPr>
        <p:spPr>
          <a:xfrm>
            <a:off x="492210" y="1291852"/>
            <a:ext cx="8651789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WIREFRAME</a:t>
            </a:r>
          </a:p>
        </p:txBody>
      </p:sp>
      <p:sp>
        <p:nvSpPr>
          <p:cNvPr id="1048591" name="Text Placeholder 2"/>
          <p:cNvSpPr>
            <a:spLocks noGrp="1"/>
          </p:cNvSpPr>
          <p:nvPr>
            <p:ph type="body" idx="1"/>
          </p:nvPr>
        </p:nvSpPr>
        <p:spPr>
          <a:xfrm>
            <a:off x="577850" y="5549900"/>
            <a:ext cx="11187430" cy="946230"/>
          </a:xfrm>
          <a:noFill/>
        </p:spPr>
        <p:txBody>
          <a:bodyPr>
            <a:normAutofit lnSpcReduction="10000"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wireframe presents the proposed layout and navigation flow of the </a:t>
            </a:r>
            <a:r>
              <a:rPr lang="en-US" sz="16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GeoFare</a:t>
            </a: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before implementation. It serves as a visual blueprint that illustrates the arrangement of user interface elements, including fare computation, route visualization, and administrative functions, ensuring an intuitive user experience and proper system functionality prior to development.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en-US" sz="16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04" y="1865270"/>
            <a:ext cx="4140200" cy="36111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929" y="1878517"/>
            <a:ext cx="6341749" cy="25190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149" y="1917828"/>
            <a:ext cx="6439700" cy="3506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Google Shape;91;p2"/>
          <p:cNvPicPr>
            <a:picLocks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7544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3" name="Picture 2097172"/>
          <p:cNvPicPr>
            <a:picLocks/>
          </p:cNvPicPr>
          <p:nvPr/>
        </p:nvPicPr>
        <p:blipFill rotWithShape="1">
          <a:blip r:embed="rId3"/>
          <a:srcRect t="9939"/>
          <a:stretch/>
        </p:blipFill>
        <p:spPr>
          <a:xfrm>
            <a:off x="1264770" y="2145767"/>
            <a:ext cx="2523364" cy="5103359"/>
          </a:xfrm>
          <a:prstGeom prst="rect">
            <a:avLst/>
          </a:prstGeom>
        </p:spPr>
      </p:pic>
      <p:pic>
        <p:nvPicPr>
          <p:cNvPr id="2097174" name="Picture 2097173"/>
          <p:cNvPicPr>
            <a:picLocks/>
          </p:cNvPicPr>
          <p:nvPr/>
        </p:nvPicPr>
        <p:blipFill rotWithShape="1">
          <a:blip r:embed="rId4"/>
          <a:srcRect t="19614" b="51626"/>
          <a:stretch/>
        </p:blipFill>
        <p:spPr>
          <a:xfrm>
            <a:off x="4301151" y="2226178"/>
            <a:ext cx="2539854" cy="1638300"/>
          </a:xfrm>
          <a:prstGeom prst="rect">
            <a:avLst/>
          </a:prstGeom>
        </p:spPr>
      </p:pic>
      <p:pic>
        <p:nvPicPr>
          <p:cNvPr id="2097175" name="Picture 2097174"/>
          <p:cNvPicPr>
            <a:picLocks/>
          </p:cNvPicPr>
          <p:nvPr/>
        </p:nvPicPr>
        <p:blipFill rotWithShape="1">
          <a:blip r:embed="rId5"/>
          <a:srcRect t="9250" b="5685"/>
          <a:stretch/>
        </p:blipFill>
        <p:spPr>
          <a:xfrm>
            <a:off x="7576268" y="2145767"/>
            <a:ext cx="2589388" cy="4940300"/>
          </a:xfrm>
          <a:prstGeom prst="rect">
            <a:avLst/>
          </a:prstGeom>
        </p:spPr>
      </p:pic>
      <p:sp>
        <p:nvSpPr>
          <p:cNvPr id="9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EXPECTED </a:t>
            </a:r>
            <a:r>
              <a:rPr lang="en-GB" sz="2400" dirty="0" smtClean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OUTPUT (PROTOTYPE)</a:t>
            </a:r>
            <a:endParaRPr lang="en-GB" dirty="0"/>
          </a:p>
        </p:txBody>
      </p:sp>
      <p:sp>
        <p:nvSpPr>
          <p:cNvPr id="10" name="Google Shape;93;p2"/>
          <p:cNvSpPr txBox="1"/>
          <p:nvPr/>
        </p:nvSpPr>
        <p:spPr>
          <a:xfrm>
            <a:off x="4646088" y="4418257"/>
            <a:ext cx="21949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 err="1" smtClean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GeoFare</a:t>
            </a:r>
            <a:r>
              <a:rPr lang="en-GB" sz="2400" dirty="0" smtClean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 UI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oogle Shape;91;p2"/>
          <p:cNvPicPr preferRelativeResize="0">
            <a:picLocks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8" name="Google Shape;93;p2"/>
          <p:cNvSpPr txBox="1"/>
          <p:nvPr/>
        </p:nvSpPr>
        <p:spPr>
          <a:xfrm>
            <a:off x="492210" y="1291852"/>
            <a:ext cx="86517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QUESTION AND ANSWER</a:t>
            </a:r>
            <a:endParaRPr lang="en-GB" dirty="0"/>
          </a:p>
        </p:txBody>
      </p:sp>
      <p:sp>
        <p:nvSpPr>
          <p:cNvPr id="1048599" name="Text Placeholder 2"/>
          <p:cNvSpPr>
            <a:spLocks noGrp="1"/>
          </p:cNvSpPr>
          <p:nvPr>
            <p:ph type="body" idx="1"/>
          </p:nvPr>
        </p:nvSpPr>
        <p:spPr>
          <a:xfrm>
            <a:off x="577555" y="2308833"/>
            <a:ext cx="11187725" cy="3805455"/>
          </a:xfrm>
          <a:noFill/>
        </p:spPr>
        <p:txBody>
          <a:bodyPr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</a:rPr>
              <a:t>Thank you!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6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</a:rPr>
              <a:t>We are ready to answer your questions</a:t>
            </a:r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742</Words>
  <Application>Microsoft Office PowerPoint</Application>
  <PresentationFormat>Widescreen</PresentationFormat>
  <Paragraphs>95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CERO</dc:creator>
  <cp:lastModifiedBy>User</cp:lastModifiedBy>
  <cp:revision>17</cp:revision>
  <dcterms:created xsi:type="dcterms:W3CDTF">2024-03-16T16:51:00Z</dcterms:created>
  <dcterms:modified xsi:type="dcterms:W3CDTF">2026-07-06T05:33:18Z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0F7E16EA5908493282F6D5C6DD398A35_13</vt:lpwstr>
  </property>
</Properties>
</file>